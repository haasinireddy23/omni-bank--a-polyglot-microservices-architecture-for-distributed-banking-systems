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88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39A4E-B6F5-2DD3-3ECB-16723670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E3883-D401-68D9-B7A5-09A4B05BC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45E2D-5CF0-AB11-8DC7-471B19450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B599D-CC49-B28F-0949-4FC08851C5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66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1325880"/>
            <a:ext cx="1453896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325880"/>
            <a:ext cx="2423160" cy="45720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1325880"/>
            <a:ext cx="649224" cy="115214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0736" y="813816"/>
            <a:ext cx="969264" cy="96926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0" y="1783080"/>
            <a:ext cx="0" cy="69494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2478024"/>
            <a:ext cx="1463040" cy="64008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2478024"/>
            <a:ext cx="0" cy="87782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9104" y="3118104"/>
            <a:ext cx="0" cy="1271016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2478024"/>
            <a:ext cx="768096" cy="1911096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4389120"/>
            <a:ext cx="1216152" cy="530352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0" y="4389120"/>
            <a:ext cx="0" cy="86868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1097280"/>
            <a:ext cx="457200" cy="45720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685800"/>
            <a:ext cx="256032" cy="256032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47120" y="1600200"/>
            <a:ext cx="365760" cy="36576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2331720"/>
            <a:ext cx="292608" cy="29260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018520" y="3017520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3246120"/>
            <a:ext cx="219456" cy="219456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95560" y="4160520"/>
            <a:ext cx="457200" cy="45720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21440" y="4800600"/>
            <a:ext cx="237744" cy="237744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5120640"/>
            <a:ext cx="274320" cy="27432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78" y="3906435"/>
            <a:ext cx="7287743" cy="619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b="1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BACKEND DEVELOPMENT  (25CS1302E)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" y="2042359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OmniBank: </a:t>
            </a: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Polyglot Microservices Architecture for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Banking Systems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78" y="3780042"/>
            <a:ext cx="7287745" cy="21273"/>
          </a:xfrm>
          <a:prstGeom prst="line">
            <a:avLst/>
          </a:prstGeom>
          <a:noFill/>
          <a:ln w="1905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D0ACA4-F3F5-E6F1-CA02-6D8FD17B067C}"/>
              </a:ext>
            </a:extLst>
          </p:cNvPr>
          <p:cNvSpPr txBox="1"/>
          <p:nvPr/>
        </p:nvSpPr>
        <p:spPr>
          <a:xfrm>
            <a:off x="2781306" y="3418697"/>
            <a:ext cx="300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Section – 1, Team – 9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3D6BE-052C-E22B-1EFE-471F7BB5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>
            <a:extLst>
              <a:ext uri="{FF2B5EF4-FFF2-40B4-BE49-F238E27FC236}">
                <a16:creationId xmlns:a16="http://schemas.microsoft.com/office/drawing/2014/main" id="{3EA999A6-F44B-C956-BDBA-378E193BFF35}"/>
              </a:ext>
            </a:extLst>
          </p:cNvPr>
          <p:cNvSpPr/>
          <p:nvPr/>
        </p:nvSpPr>
        <p:spPr>
          <a:xfrm>
            <a:off x="9006840" y="1325880"/>
            <a:ext cx="1453896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A4AF8755-6F58-E56A-0166-FB9E23085597}"/>
              </a:ext>
            </a:extLst>
          </p:cNvPr>
          <p:cNvSpPr/>
          <p:nvPr/>
        </p:nvSpPr>
        <p:spPr>
          <a:xfrm>
            <a:off x="9006840" y="1325880"/>
            <a:ext cx="2423160" cy="45720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072F71E2-503E-DF68-1E05-62724A7E8EBE}"/>
              </a:ext>
            </a:extLst>
          </p:cNvPr>
          <p:cNvSpPr/>
          <p:nvPr/>
        </p:nvSpPr>
        <p:spPr>
          <a:xfrm>
            <a:off x="9006840" y="1325880"/>
            <a:ext cx="649224" cy="115214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C2388DF9-55CB-795B-7CA6-07ABFC05F60D}"/>
              </a:ext>
            </a:extLst>
          </p:cNvPr>
          <p:cNvSpPr/>
          <p:nvPr/>
        </p:nvSpPr>
        <p:spPr>
          <a:xfrm>
            <a:off x="10460736" y="813816"/>
            <a:ext cx="969264" cy="96926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76EC65E9-C68B-B34C-A71B-921ED021F683}"/>
              </a:ext>
            </a:extLst>
          </p:cNvPr>
          <p:cNvSpPr/>
          <p:nvPr/>
        </p:nvSpPr>
        <p:spPr>
          <a:xfrm>
            <a:off x="11430000" y="1783080"/>
            <a:ext cx="0" cy="69494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2B5084DB-7AB2-A050-7961-D66981EAF7C0}"/>
              </a:ext>
            </a:extLst>
          </p:cNvPr>
          <p:cNvSpPr/>
          <p:nvPr/>
        </p:nvSpPr>
        <p:spPr>
          <a:xfrm>
            <a:off x="9656064" y="2478024"/>
            <a:ext cx="1463040" cy="64008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54B97A97-2065-4A12-8926-40671D373987}"/>
              </a:ext>
            </a:extLst>
          </p:cNvPr>
          <p:cNvSpPr/>
          <p:nvPr/>
        </p:nvSpPr>
        <p:spPr>
          <a:xfrm>
            <a:off x="9656064" y="2478024"/>
            <a:ext cx="0" cy="87782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DB8DB7C0-C30E-37C9-EDA3-E8CF1AAD88CA}"/>
              </a:ext>
            </a:extLst>
          </p:cNvPr>
          <p:cNvSpPr/>
          <p:nvPr/>
        </p:nvSpPr>
        <p:spPr>
          <a:xfrm>
            <a:off x="11119104" y="3118104"/>
            <a:ext cx="0" cy="1271016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4E63F2E0-6DAD-67D1-2CDF-11F15F43D1DA}"/>
              </a:ext>
            </a:extLst>
          </p:cNvPr>
          <p:cNvSpPr/>
          <p:nvPr/>
        </p:nvSpPr>
        <p:spPr>
          <a:xfrm>
            <a:off x="9656064" y="2478024"/>
            <a:ext cx="768096" cy="1911096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2E917597-EB40-8986-E139-3D7C386B4E72}"/>
              </a:ext>
            </a:extLst>
          </p:cNvPr>
          <p:cNvSpPr/>
          <p:nvPr/>
        </p:nvSpPr>
        <p:spPr>
          <a:xfrm>
            <a:off x="10424160" y="4389120"/>
            <a:ext cx="1216152" cy="530352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19532EE4-2AF8-8370-4168-3F0D11AA2446}"/>
              </a:ext>
            </a:extLst>
          </p:cNvPr>
          <p:cNvSpPr/>
          <p:nvPr/>
        </p:nvSpPr>
        <p:spPr>
          <a:xfrm>
            <a:off x="10424160" y="4389120"/>
            <a:ext cx="0" cy="86868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6B54A185-334D-9C09-283D-612FBC5F56C4}"/>
              </a:ext>
            </a:extLst>
          </p:cNvPr>
          <p:cNvSpPr/>
          <p:nvPr/>
        </p:nvSpPr>
        <p:spPr>
          <a:xfrm>
            <a:off x="8778240" y="1097280"/>
            <a:ext cx="457200" cy="45720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F88DEAAE-EC2E-5EB3-445E-F9BEC058872D}"/>
              </a:ext>
            </a:extLst>
          </p:cNvPr>
          <p:cNvSpPr/>
          <p:nvPr/>
        </p:nvSpPr>
        <p:spPr>
          <a:xfrm>
            <a:off x="10332720" y="685800"/>
            <a:ext cx="256032" cy="256032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1545905F-8EFF-ED7A-2853-365088B33F26}"/>
              </a:ext>
            </a:extLst>
          </p:cNvPr>
          <p:cNvSpPr/>
          <p:nvPr/>
        </p:nvSpPr>
        <p:spPr>
          <a:xfrm>
            <a:off x="11247120" y="1600200"/>
            <a:ext cx="365760" cy="36576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405FD665-FE19-05DE-E1B9-1720260E6CE4}"/>
              </a:ext>
            </a:extLst>
          </p:cNvPr>
          <p:cNvSpPr/>
          <p:nvPr/>
        </p:nvSpPr>
        <p:spPr>
          <a:xfrm>
            <a:off x="9509760" y="2331720"/>
            <a:ext cx="292608" cy="29260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F163A755-6AF1-52D6-FA4D-BDE5E578A756}"/>
              </a:ext>
            </a:extLst>
          </p:cNvPr>
          <p:cNvSpPr/>
          <p:nvPr/>
        </p:nvSpPr>
        <p:spPr>
          <a:xfrm>
            <a:off x="11018520" y="3017520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41800447-5528-F09E-23DF-63F86D8E00E5}"/>
              </a:ext>
            </a:extLst>
          </p:cNvPr>
          <p:cNvSpPr/>
          <p:nvPr/>
        </p:nvSpPr>
        <p:spPr>
          <a:xfrm>
            <a:off x="8366760" y="3246120"/>
            <a:ext cx="219456" cy="219456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30D370CA-A933-ACAB-300D-413753E4A235}"/>
              </a:ext>
            </a:extLst>
          </p:cNvPr>
          <p:cNvSpPr/>
          <p:nvPr/>
        </p:nvSpPr>
        <p:spPr>
          <a:xfrm>
            <a:off x="10195560" y="4160520"/>
            <a:ext cx="457200" cy="45720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6C8835E3-3F09-B8F0-2F3B-D997541343C4}"/>
              </a:ext>
            </a:extLst>
          </p:cNvPr>
          <p:cNvSpPr/>
          <p:nvPr/>
        </p:nvSpPr>
        <p:spPr>
          <a:xfrm>
            <a:off x="11521440" y="4800600"/>
            <a:ext cx="237744" cy="237744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2E077BE2-DD66-4B2D-73A7-2AD5A5F89DCB}"/>
              </a:ext>
            </a:extLst>
          </p:cNvPr>
          <p:cNvSpPr/>
          <p:nvPr/>
        </p:nvSpPr>
        <p:spPr>
          <a:xfrm>
            <a:off x="9144000" y="5120640"/>
            <a:ext cx="274320" cy="27432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D1245C5-A173-4300-6F21-8BCE0D137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60720"/>
              </p:ext>
            </p:extLst>
          </p:nvPr>
        </p:nvGraphicFramePr>
        <p:xfrm>
          <a:off x="1857734" y="1072415"/>
          <a:ext cx="8125884" cy="47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339">
                  <a:extLst>
                    <a:ext uri="{9D8B030D-6E8A-4147-A177-3AD203B41FA5}">
                      <a16:colId xmlns:a16="http://schemas.microsoft.com/office/drawing/2014/main" val="3291909967"/>
                    </a:ext>
                  </a:extLst>
                </a:gridCol>
                <a:gridCol w="3093577">
                  <a:extLst>
                    <a:ext uri="{9D8B030D-6E8A-4147-A177-3AD203B41FA5}">
                      <a16:colId xmlns:a16="http://schemas.microsoft.com/office/drawing/2014/main" val="1197742843"/>
                    </a:ext>
                  </a:extLst>
                </a:gridCol>
                <a:gridCol w="2770968">
                  <a:extLst>
                    <a:ext uri="{9D8B030D-6E8A-4147-A177-3AD203B41FA5}">
                      <a16:colId xmlns:a16="http://schemas.microsoft.com/office/drawing/2014/main" val="306747229"/>
                    </a:ext>
                  </a:extLst>
                </a:gridCol>
              </a:tblGrid>
              <a:tr h="119578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Serial Number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Name 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Roll Number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48725"/>
                  </a:ext>
                </a:extLst>
              </a:tr>
              <a:tr h="119578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B. </a:t>
                      </a:r>
                      <a:r>
                        <a:rPr lang="en-US" sz="2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Haasini</a:t>
                      </a:r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2520030265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471985"/>
                  </a:ext>
                </a:extLst>
              </a:tr>
              <a:tr h="119578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Arjun Tomar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2520030285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793482"/>
                  </a:ext>
                </a:extLst>
              </a:tr>
              <a:tr h="119578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V. Rohan Jacob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2520030558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530113"/>
                  </a:ext>
                </a:extLst>
              </a:tr>
            </a:tbl>
          </a:graphicData>
        </a:graphic>
      </p:graphicFrame>
      <p:sp>
        <p:nvSpPr>
          <p:cNvPr id="28" name="Shape 0">
            <a:extLst>
              <a:ext uri="{FF2B5EF4-FFF2-40B4-BE49-F238E27FC236}">
                <a16:creationId xmlns:a16="http://schemas.microsoft.com/office/drawing/2014/main" id="{85AE5AB2-E97A-A66D-7FEF-7BD68FD5DF42}"/>
              </a:ext>
            </a:extLst>
          </p:cNvPr>
          <p:cNvSpPr/>
          <p:nvPr/>
        </p:nvSpPr>
        <p:spPr>
          <a:xfrm>
            <a:off x="879326" y="5366331"/>
            <a:ext cx="1152144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D5D47938-4368-B8F7-9E63-2F0FEEF9F5DE}"/>
              </a:ext>
            </a:extLst>
          </p:cNvPr>
          <p:cNvSpPr/>
          <p:nvPr/>
        </p:nvSpPr>
        <p:spPr>
          <a:xfrm>
            <a:off x="879326" y="5366331"/>
            <a:ext cx="1755648" cy="566928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25165178-EBA1-AE82-9937-B37806697F84}"/>
              </a:ext>
            </a:extLst>
          </p:cNvPr>
          <p:cNvSpPr/>
          <p:nvPr/>
        </p:nvSpPr>
        <p:spPr>
          <a:xfrm>
            <a:off x="879326" y="5366331"/>
            <a:ext cx="512064" cy="87782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2B496BAD-DBB7-82E0-5101-5D864ACA08F8}"/>
              </a:ext>
            </a:extLst>
          </p:cNvPr>
          <p:cNvSpPr/>
          <p:nvPr/>
        </p:nvSpPr>
        <p:spPr>
          <a:xfrm>
            <a:off x="2634974" y="5933259"/>
            <a:ext cx="0" cy="310896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793E05E7-210F-B0D8-15E9-60D3A1FF43A0}"/>
              </a:ext>
            </a:extLst>
          </p:cNvPr>
          <p:cNvSpPr/>
          <p:nvPr/>
        </p:nvSpPr>
        <p:spPr>
          <a:xfrm>
            <a:off x="742166" y="5229171"/>
            <a:ext cx="274320" cy="27432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8C068124-318B-78C4-D12E-1D21FB7BD11A}"/>
              </a:ext>
            </a:extLst>
          </p:cNvPr>
          <p:cNvSpPr/>
          <p:nvPr/>
        </p:nvSpPr>
        <p:spPr>
          <a:xfrm>
            <a:off x="1930886" y="4909131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0FD2524F-DC55-23EC-FFB5-2BD7A2722D59}"/>
              </a:ext>
            </a:extLst>
          </p:cNvPr>
          <p:cNvSpPr/>
          <p:nvPr/>
        </p:nvSpPr>
        <p:spPr>
          <a:xfrm>
            <a:off x="2479526" y="5777811"/>
            <a:ext cx="310896" cy="310896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5D64A487-FB35-DF29-5C96-D9A7E3D63D33}"/>
              </a:ext>
            </a:extLst>
          </p:cNvPr>
          <p:cNvSpPr/>
          <p:nvPr/>
        </p:nvSpPr>
        <p:spPr>
          <a:xfrm>
            <a:off x="1290806" y="6143571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09632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 ·  DISTRIBUTED BANKING BACKEND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545336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Modern Banking
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must process high-volume, concurrent transactions with strict reliability and no data loss.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715768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Monolithic Systems
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database couples every service together, making it hard to scale or isolate failures.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88620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Polyglot Microservices Approach
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splits the backend into purpose-built services, each paired with the database best suited to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1149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056632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Consistency
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Saga orchestration keeps independent services consistent without a shared database.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86600" y="1554480"/>
            <a:ext cx="4553712" cy="4617720"/>
          </a:xfrm>
          <a:prstGeom prst="roundRect">
            <a:avLst>
              <a:gd name="adj" fmla="val 2410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78308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Polyglot Persistence Stack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2395728"/>
            <a:ext cx="39136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2569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2450592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Ledger
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ACID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3310128"/>
            <a:ext cx="39136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4838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3364992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
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Documents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4224528"/>
            <a:ext cx="39136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92440" y="4279392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Rate-Limit
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In-Memory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5157216"/>
            <a:ext cx="39136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5276088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Saga orchestration over RabbitMQ for cross-service consistency.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 ·  DISTRIBUTED BANKING BACKEND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465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81912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banking systems demand high availability and strict ACID compliance for high-volume, concurrent transactions — a scale that monolithic architectures struggle to sustain.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82549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60904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decomposes the backend into three purpose-built microservices: a FastAPI payment gateway, a Spring Boot account/ledger engine on PostgreSQL, and a Node.js notification service on MongoDB.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9044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39896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consistency is preserved through the Saga pattern over RabbitMQ, using event-driven choreography with automatic compensating transactions on partial failure.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9834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1888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handles API rate-limiting, while pgvector with HNSW indexing enables semantic transaction search (e.g. “coffee spending”) — all containerized with Docker Compose and validated by a security-scanned CI/CD pipeline.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691640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18196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52560" y="181965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Microservices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3108960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323697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52560" y="323697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Databases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4526280"/>
            <a:ext cx="4023360" cy="1170432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465429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052560" y="465429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Banking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 ·  DISTRIBUTED BANKING BACKEND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1F5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Bottleneck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database can't absorb rising transaction volume without becoming a scaling and coupling bottleneck across accounts, payments, and notifications.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of Data Corruption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Concurrent, high-volume transactions on a monolithic store raise the risk of race conditions and inconsistent account state.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1F5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61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4160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Cross-Service Consistency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09160" y="416052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data across independent, service-owned databases makes it hard to guarantee atomic, all-or-nothing fund transfers.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50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5349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Transaction Search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09160" y="534924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keyword search cannot answer natural-language queries such as “how much did I spend on coffee.”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 ·  DISTRIBUTED BANKING BACKEND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0894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&amp; Ledger Service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565063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PostgreSQL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905592"/>
            <a:ext cx="21785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Manages accounts and balances with double-entry ACID transactions to maintain financial consistency.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5566" y="1600200"/>
            <a:ext cx="2580894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6734" y="1801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86734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6734" y="233172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/ Transfer Gateway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86734" y="2603263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86734" y="2922961"/>
            <a:ext cx="21785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Handles high-throughput payments and fund transfers between banking services.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22492" y="1600200"/>
            <a:ext cx="2580894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3660" y="1801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2366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3660" y="233172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Service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23660" y="2578608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MongoDB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23660" y="2924157"/>
            <a:ext cx="21785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Provides event-driven alerts and messaging for transaction and account events.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59418" y="1600200"/>
            <a:ext cx="2580894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0586" y="18013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260586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0586" y="233172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Orchestration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60586" y="2584975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60586" y="2905592"/>
            <a:ext cx="21785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Coordinates distributed transactions using the Saga pattern, with compensating transactions for failures.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3526536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813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434340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&amp; Config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681" y="457200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rate-limiting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9681" y="4887468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Provides request routing, throttling and service configuration to control API access.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31208" y="3611880"/>
            <a:ext cx="3526536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32376" y="3813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532376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32376" y="434340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Engine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32376" y="4613148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HNSW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32376" y="4905756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Enables natural-language transaction search, such as finding “coffee spending,” using vector similarity.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3776" y="3611880"/>
            <a:ext cx="3526536" cy="1783080"/>
          </a:xfrm>
          <a:prstGeom prst="roundRect">
            <a:avLst>
              <a:gd name="adj" fmla="val 5128"/>
            </a:avLst>
          </a:prstGeom>
          <a:solidFill>
            <a:srgbClr val="E7EE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14944" y="3813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314944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314944" y="4343400"/>
            <a:ext cx="312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CI/CD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314944" y="4590288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Trivy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14944" y="4908832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/>
              <a:t>Supports containerized deployment, automated CI/CD and vulnerability scanning.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 ·  DISTRIBUTED BANKING BACKEND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08676" cy="1207008"/>
          </a:xfrm>
          <a:prstGeom prst="roundRect">
            <a:avLst>
              <a:gd name="adj" fmla="val 7576"/>
            </a:avLst>
          </a:prstGeom>
          <a:solidFill>
            <a:srgbClr val="F1F5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48600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Python 3.11, Node.js, SQL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536192"/>
            <a:ext cx="5408676" cy="1207008"/>
          </a:xfrm>
          <a:prstGeom prst="roundRect">
            <a:avLst>
              <a:gd name="adj" fmla="val 7576"/>
            </a:avLst>
          </a:prstGeom>
          <a:solidFill>
            <a:srgbClr val="F1F5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166420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Frameworks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05956" y="2048256"/>
            <a:ext cx="48600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(JPA, Web), FastAPI (Pydantic), Express.js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408676" cy="1207008"/>
          </a:xfrm>
          <a:prstGeom prst="roundRect">
            <a:avLst>
              <a:gd name="adj" fmla="val 7576"/>
            </a:avLst>
          </a:prstGeom>
          <a:solidFill>
            <a:srgbClr val="E7EE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3580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 — Polyglot Persistence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48600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MongoDB, Redis, pgvector (HNSW indexing)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2907792"/>
            <a:ext cx="5408676" cy="1207008"/>
          </a:xfrm>
          <a:prstGeom prst="roundRect">
            <a:avLst>
              <a:gd name="adj" fmla="val 7576"/>
            </a:avLst>
          </a:prstGeom>
          <a:solidFill>
            <a:srgbClr val="E7EEF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5956" y="303580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Messaging &amp; Orchestration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05956" y="3419856"/>
            <a:ext cx="48600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— Saga pattern orchestration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5408676" cy="1207008"/>
          </a:xfrm>
          <a:prstGeom prst="roundRect">
            <a:avLst>
              <a:gd name="adj" fmla="val 7576"/>
            </a:avLst>
          </a:prstGeom>
          <a:solidFill>
            <a:srgbClr val="F1F5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0740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Deployment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791456"/>
            <a:ext cx="48600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Docker Compose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4279392"/>
            <a:ext cx="5408676" cy="1207008"/>
          </a:xfrm>
          <a:prstGeom prst="roundRect">
            <a:avLst>
              <a:gd name="adj" fmla="val 7576"/>
            </a:avLst>
          </a:prstGeom>
          <a:solidFill>
            <a:srgbClr val="F1F5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5956" y="440740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CI/CD, Security &amp; Testing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05956" y="4791456"/>
            <a:ext cx="48600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Trivy (OWASP scan), JUnit, Pytest, Swagger/OpenAPI, C4 diagrams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69671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967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containerized architecture — runs on any Docker-compatible machine or cloud environment; no specialized hardware required.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5349240"/>
            <a:ext cx="1152144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5349240"/>
            <a:ext cx="1755648" cy="566928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5349240"/>
            <a:ext cx="512064" cy="877824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85448" y="5916168"/>
            <a:ext cx="0" cy="310896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5212080"/>
            <a:ext cx="274320" cy="27432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892040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5760720"/>
            <a:ext cx="310896" cy="310896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126480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 ·  DISTRIBUTED BANKING 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17556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16002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OmniBank shows how polyglot persistence and microservices deliver a scalable, resilient banking backend.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2514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Saga-based orchestration achieves eventual consistency with automatic compensation — without sacrificing service independence.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35844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429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rate-limiting, pgvector semantic search, and a security-scanned CI/CD pipeline demonstrate engineering beyond basic CRUD.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44988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434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system proves distributed backend design can meet the strict reliability and compliance demands of modern finance.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532120"/>
            <a:ext cx="1664208" cy="457200"/>
          </a:xfrm>
          <a:prstGeom prst="roundRect">
            <a:avLst>
              <a:gd name="adj" fmla="val 50000"/>
            </a:avLst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5321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9736" y="5532120"/>
            <a:ext cx="1481328" cy="457200"/>
          </a:xfrm>
          <a:prstGeom prst="roundRect">
            <a:avLst>
              <a:gd name="adj" fmla="val 50000"/>
            </a:avLst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9736" y="55321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9664" y="5532120"/>
            <a:ext cx="2487168" cy="457200"/>
          </a:xfrm>
          <a:prstGeom prst="roundRect">
            <a:avLst>
              <a:gd name="adj" fmla="val 50000"/>
            </a:avLst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9664" y="5532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Searchable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85432" y="5532120"/>
            <a:ext cx="1847088" cy="457200"/>
          </a:xfrm>
          <a:prstGeom prst="roundRect">
            <a:avLst>
              <a:gd name="adj" fmla="val 50000"/>
            </a:avLst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55321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Container-Native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782</Words>
  <Application>Microsoft Office PowerPoint</Application>
  <PresentationFormat>Custom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Haasini bommareddy</cp:lastModifiedBy>
  <cp:revision>3</cp:revision>
  <dcterms:created xsi:type="dcterms:W3CDTF">2026-08-19T15:11:20Z</dcterms:created>
  <dcterms:modified xsi:type="dcterms:W3CDTF">2026-08-19T16:36:44Z</dcterms:modified>
</cp:coreProperties>
</file>